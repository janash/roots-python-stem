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56" r:id="rId5"/>
    <p:sldId id="275" r:id="rId6"/>
    <p:sldId id="257" r:id="rId7"/>
    <p:sldId id="258" r:id="rId8"/>
    <p:sldId id="259" r:id="rId9"/>
    <p:sldId id="263" r:id="rId10"/>
    <p:sldId id="264" r:id="rId11"/>
    <p:sldId id="265" r:id="rId12"/>
    <p:sldId id="276" r:id="rId13"/>
    <p:sldId id="267" r:id="rId14"/>
    <p:sldId id="271" r:id="rId15"/>
    <p:sldId id="272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AF3F5A4-0EF6-7A86-FA2A-028E1C1A78A8}" name="Jessica Nash, Ph.D." initials="JN" userId="S::jn242@duke.edu::ffd2f2d2-b0b7-43ef-a597-e7b630bd976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9923"/>
    <a:srgbClr val="012169"/>
    <a:srgbClr val="FFD960"/>
    <a:srgbClr val="FFFFFF"/>
    <a:srgbClr val="00539B"/>
    <a:srgbClr val="B19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240" autoAdjust="0"/>
  </p:normalViewPr>
  <p:slideViewPr>
    <p:cSldViewPr snapToGrid="0">
      <p:cViewPr varScale="1">
        <p:scale>
          <a:sx n="79" d="100"/>
          <a:sy n="79" d="100"/>
        </p:scale>
        <p:origin x="909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Used in the past year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F5597"/>
              </a:solidFill>
              <a:ln>
                <a:solidFill>
                  <a:srgbClr val="012169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B0CD-4991-97C9-EDF7EDCD9490}"/>
              </c:ext>
            </c:extLst>
          </c:dPt>
          <c:dPt>
            <c:idx val="1"/>
            <c:invertIfNegative val="1"/>
            <c:bubble3D val="0"/>
            <c:spPr>
              <a:solidFill>
                <a:srgbClr val="2F5597"/>
              </a:solidFill>
              <a:ln>
                <a:solidFill>
                  <a:srgbClr val="012169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B0CD-4991-97C9-EDF7EDCD9490}"/>
              </c:ext>
            </c:extLst>
          </c:dPt>
          <c:dPt>
            <c:idx val="2"/>
            <c:invertIfNegative val="1"/>
            <c:bubble3D val="0"/>
            <c:spPr>
              <a:solidFill>
                <a:srgbClr val="E89923"/>
              </a:solidFill>
              <a:ln>
                <a:solidFill>
                  <a:srgbClr val="012169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B0CD-4991-97C9-EDF7EDCD9490}"/>
              </c:ext>
            </c:extLst>
          </c:dPt>
          <c:dPt>
            <c:idx val="3"/>
            <c:invertIfNegative val="1"/>
            <c:bubble3D val="0"/>
            <c:spPr>
              <a:solidFill>
                <a:srgbClr val="2F5597"/>
              </a:solidFill>
              <a:ln>
                <a:solidFill>
                  <a:srgbClr val="012169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B0CD-4991-97C9-EDF7EDCD9490}"/>
              </c:ext>
            </c:extLst>
          </c:dPt>
          <c:dPt>
            <c:idx val="4"/>
            <c:invertIfNegative val="1"/>
            <c:bubble3D val="0"/>
            <c:spPr>
              <a:solidFill>
                <a:srgbClr val="2F5597"/>
              </a:solidFill>
              <a:ln>
                <a:solidFill>
                  <a:srgbClr val="012169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B0CD-4991-97C9-EDF7EDCD9490}"/>
              </c:ext>
            </c:extLst>
          </c:dPt>
          <c:dPt>
            <c:idx val="5"/>
            <c:invertIfNegative val="1"/>
            <c:bubble3D val="0"/>
            <c:spPr>
              <a:solidFill>
                <a:srgbClr val="2F5597"/>
              </a:solidFill>
              <a:ln>
                <a:solidFill>
                  <a:srgbClr val="012169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B0CD-4991-97C9-EDF7EDCD9490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TypeScript</c:v>
                </c:pt>
                <c:pt idx="1">
                  <c:v>Bash/Shell</c:v>
                </c:pt>
                <c:pt idx="2">
                  <c:v>Python</c:v>
                </c:pt>
                <c:pt idx="3">
                  <c:v>SQL</c:v>
                </c:pt>
                <c:pt idx="4">
                  <c:v>HTML/CSS</c:v>
                </c:pt>
                <c:pt idx="5">
                  <c:v>JavaScript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43.6</c:v>
                </c:pt>
                <c:pt idx="1">
                  <c:v>48.7</c:v>
                </c:pt>
                <c:pt idx="2">
                  <c:v>57.9</c:v>
                </c:pt>
                <c:pt idx="3">
                  <c:v>58.6</c:v>
                </c:pt>
                <c:pt idx="4">
                  <c:v>61.9</c:v>
                </c:pt>
                <c:pt idx="5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0CD-4991-97C9-EDF7EDCD949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600">
                <a:latin typeface="Open San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5"/>
          <c:min val="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/>
                  <a:t>Share of respondents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-2068027336"/>
        <c:crosses val="autoZero"/>
        <c:crossBetween val="between"/>
        <c:majorUnit val="25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30A22-0E52-4664-9FF0-DE976499464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02FE4-B2C6-4A5D-987B-B596A422F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2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Hands-on introduction to scientific and quantitative work with Python. Some prior programming experience is helpful, but not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02FE4-B2C6-4A5D-987B-B596A422F1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403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Sources:</a:t>
            </a:r>
          </a:p>
          <a:p>
            <a:r>
              <a:rPr dirty="0"/>
              <a:t>https://docs.python.org/3/faq/general.html#why-was-python-created-in-the-first-place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chart displays the six most-used programming, scripting, and markup technologies among respondents to this question. It is survey usage, not a measure of every developer worldwide. Values: [('JavaScript', 66.0), ('HTML/CSS', 61.9), ('SQL', 58.6), ('Python', 57.9), ('Bash/Shell', 48.7), ('TypeScript', 43.6)]</a:t>
            </a:r>
          </a:p>
          <a:p>
            <a:endParaRPr/>
          </a:p>
          <a:p>
            <a:r>
              <a:t>Sources:</a:t>
            </a:r>
          </a:p>
          <a:p>
            <a:r>
              <a:t>https://survey.stackoverflow.co/2025/technology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SciPy is both the name of a specific library and part of the broader ecosystem often called the SciPy stack. The packages shown have complementary roles; this is not a strict dependency diagram. Introduce import statements during hands-on work.</a:t>
            </a:r>
          </a:p>
          <a:p>
            <a:endParaRPr dirty="0"/>
          </a:p>
          <a:p>
            <a:r>
              <a:rPr dirty="0"/>
              <a:t>Sources:</a:t>
            </a:r>
          </a:p>
          <a:p>
            <a:r>
              <a:rPr dirty="0"/>
              <a:t>https://numpy.org/</a:t>
            </a:r>
          </a:p>
          <a:p>
            <a:r>
              <a:rPr dirty="0"/>
              <a:t>https://scipy.org/</a:t>
            </a:r>
          </a:p>
          <a:p>
            <a:r>
              <a:rPr dirty="0"/>
              <a:t>https://pandas.pydata.org/</a:t>
            </a:r>
          </a:p>
          <a:p>
            <a:r>
              <a:rPr dirty="0"/>
              <a:t>https://matplotlib.org/</a:t>
            </a:r>
          </a:p>
          <a:p>
            <a:r>
              <a:rPr dirty="0"/>
              <a:t>https://plotly.com/python/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121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546DB-B73C-0105-3E68-C6969BD96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579" y="2532887"/>
            <a:ext cx="10987237" cy="1349683"/>
          </a:xfrm>
        </p:spPr>
        <p:txBody>
          <a:bodyPr anchor="b"/>
          <a:lstStyle>
            <a:lvl1pPr algn="ctr">
              <a:defRPr sz="6000" b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8D9D7-0F36-71E2-0C0B-4B4CA635779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1579" y="5109028"/>
            <a:ext cx="10987237" cy="101263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Context and authors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97B18-90A7-FF64-13C5-0CB40688DC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43494" y="6246003"/>
            <a:ext cx="2743200" cy="365125"/>
          </a:xfrm>
        </p:spPr>
        <p:txBody>
          <a:bodyPr/>
          <a:lstStyle/>
          <a:p>
            <a:fld id="{0723FCEA-C0B4-4F5B-BA35-49BA504B55A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DB0C3-EF56-1997-0F19-656D983E5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43894" y="6246003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50716-830F-365D-4FCA-E37D4E353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4642" y="6246002"/>
            <a:ext cx="1261753" cy="365125"/>
          </a:xfrm>
        </p:spPr>
        <p:txBody>
          <a:bodyPr/>
          <a:lstStyle/>
          <a:p>
            <a:fld id="{602E8AB6-1C45-44DC-881E-4B6D7CF279A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DDD6990-9A57-B957-00E7-A40F3BACA6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0449" y="807568"/>
            <a:ext cx="7580726" cy="124323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FB2B023-800B-AAE9-3399-6A32BD2438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1579" y="4092575"/>
            <a:ext cx="10987236" cy="877888"/>
          </a:xfrm>
        </p:spPr>
        <p:txBody>
          <a:bodyPr/>
          <a:lstStyle>
            <a:lvl1pPr algn="ctr">
              <a:buNone/>
              <a:defRPr sz="3600">
                <a:solidFill>
                  <a:srgbClr val="E89923"/>
                </a:solidFill>
              </a:defRPr>
            </a:lvl1pPr>
          </a:lstStyle>
          <a:p>
            <a:pPr lvl="0"/>
            <a:r>
              <a:rPr lang="en-US" dirty="0"/>
              <a:t>Talk subtitle (optional)</a:t>
            </a:r>
          </a:p>
        </p:txBody>
      </p:sp>
    </p:spTree>
    <p:extLst>
      <p:ext uri="{BB962C8B-B14F-4D97-AF65-F5344CB8AC3E}">
        <p14:creationId xmlns:p14="http://schemas.microsoft.com/office/powerpoint/2010/main" val="1749659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70C72CD-0E0F-3B57-4EF3-85DD976B1F17}"/>
              </a:ext>
            </a:extLst>
          </p:cNvPr>
          <p:cNvSpPr/>
          <p:nvPr userDrawn="1"/>
        </p:nvSpPr>
        <p:spPr>
          <a:xfrm>
            <a:off x="0" y="6257026"/>
            <a:ext cx="12191999" cy="601422"/>
          </a:xfrm>
          <a:prstGeom prst="rect">
            <a:avLst/>
          </a:prstGeom>
          <a:solidFill>
            <a:srgbClr val="001A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B37F4F-D19A-B17F-8C78-8B379592412B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>
              <a:defRPr sz="4500" b="0">
                <a:solidFill>
                  <a:srgbClr val="012169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D4CFA-A6AA-681D-99D1-56F547F7CEB5}"/>
              </a:ext>
            </a:extLst>
          </p:cNvPr>
          <p:cNvSpPr>
            <a:spLocks noGrp="1"/>
          </p:cNvSpPr>
          <p:nvPr userDrawn="1">
            <p:ph idx="1"/>
          </p:nvPr>
        </p:nvSpPr>
        <p:spPr/>
        <p:txBody>
          <a:bodyPr/>
          <a:lstStyle>
            <a:lvl1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8C309-A3AC-EFE0-CE1B-A00045AD941B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0723FCEA-C0B4-4F5B-BA35-49BA504B55A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826C4-0AC4-B4B7-A24B-D0D221106032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F1969-3F69-F974-7BE4-B3DC6F88C702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602E8AB6-1C45-44DC-881E-4B6D7CF279A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95FEFF8-81A6-AE29-76F4-4DB0989EDB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63678" y="6393500"/>
            <a:ext cx="1999838" cy="32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46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BE6C07-2D87-BDAE-E5E1-4E9207E50964}"/>
              </a:ext>
            </a:extLst>
          </p:cNvPr>
          <p:cNvSpPr/>
          <p:nvPr userDrawn="1"/>
        </p:nvSpPr>
        <p:spPr>
          <a:xfrm>
            <a:off x="0" y="6257026"/>
            <a:ext cx="12191999" cy="601422"/>
          </a:xfrm>
          <a:prstGeom prst="rect">
            <a:avLst/>
          </a:prstGeom>
          <a:solidFill>
            <a:srgbClr val="001A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CDD874-8FAF-E8A8-EB04-A3883C00923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0">
                <a:solidFill>
                  <a:srgbClr val="012169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EDC54-3A55-67BA-A727-6C7633968C4A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B3478-EB0C-27A2-5BEC-335A93CAF191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23FCEA-C0B4-4F5B-BA35-49BA504B55AA}" type="datetimeFigureOut">
              <a:rPr lang="en-US" smtClean="0"/>
              <a:pPr/>
              <a:t>9/29/2026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BDAED-BFF6-78C8-D554-E074ECA3DF80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5D460-36EE-8704-24A4-745E7CB433C4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602E8AB6-1C45-44DC-881E-4B6D7CF279A4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CF8248F-537A-0D36-E083-350ABCDF50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63678" y="6393500"/>
            <a:ext cx="1999838" cy="32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06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BACEF93-CBA5-6D30-58BF-C7AC09A937C1}"/>
              </a:ext>
            </a:extLst>
          </p:cNvPr>
          <p:cNvSpPr/>
          <p:nvPr userDrawn="1"/>
        </p:nvSpPr>
        <p:spPr>
          <a:xfrm>
            <a:off x="0" y="6257026"/>
            <a:ext cx="12191999" cy="601422"/>
          </a:xfrm>
          <a:prstGeom prst="rect">
            <a:avLst/>
          </a:prstGeom>
          <a:solidFill>
            <a:srgbClr val="001A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6844E-A0F1-7D11-34A9-1CBC6A7C0D96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>
              <a:defRPr sz="4500" b="0">
                <a:solidFill>
                  <a:srgbClr val="012169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AC395-A686-B50F-29CC-24E44EE37C7A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52154E-1C23-785D-1211-28DDF436994F}"/>
              </a:ext>
            </a:extLst>
          </p:cNvPr>
          <p:cNvSpPr>
            <a:spLocks noGrp="1"/>
          </p:cNvSpPr>
          <p:nvPr userDrawn="1"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CEE60-AE06-153D-557D-5D048C455D45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23FCEA-C0B4-4F5B-BA35-49BA504B55AA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79119-CDB1-E7C8-E438-46DDEDD94B04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F9631-FCCF-8239-350C-751C9262EF7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2E8AB6-1C45-44DC-881E-4B6D7CF279A4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2501233-3507-54A8-BBED-216720FBBA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63678" y="6393500"/>
            <a:ext cx="1999838" cy="32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556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75FBD2D-B81D-2742-7ED5-FEF384EDD1B0}"/>
              </a:ext>
            </a:extLst>
          </p:cNvPr>
          <p:cNvSpPr/>
          <p:nvPr userDrawn="1"/>
        </p:nvSpPr>
        <p:spPr>
          <a:xfrm>
            <a:off x="1" y="6257026"/>
            <a:ext cx="12224824" cy="601422"/>
          </a:xfrm>
          <a:prstGeom prst="rect">
            <a:avLst/>
          </a:prstGeom>
          <a:solidFill>
            <a:srgbClr val="001A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E9FDAB-C19E-B564-0533-D83E0AE14377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500">
                <a:solidFill>
                  <a:srgbClr val="012169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E8945-4B10-F575-3801-57D4352C7919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B1E13-4454-6232-6CD9-4E5CF6F31B64}"/>
              </a:ext>
            </a:extLst>
          </p:cNvPr>
          <p:cNvSpPr>
            <a:spLocks noGrp="1"/>
          </p:cNvSpPr>
          <p:nvPr userDrawn="1"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75EB8F-5948-3199-0A59-037AB30CA219}"/>
              </a:ext>
            </a:extLst>
          </p:cNvPr>
          <p:cNvSpPr>
            <a:spLocks noGrp="1"/>
          </p:cNvSpPr>
          <p:nvPr userDrawn="1"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ED5E38-F2DE-A98F-A6B6-840428ECF082}"/>
              </a:ext>
            </a:extLst>
          </p:cNvPr>
          <p:cNvSpPr>
            <a:spLocks noGrp="1"/>
          </p:cNvSpPr>
          <p:nvPr userDrawn="1"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F4D1CB-11C9-026F-BFAC-3B141D99DF9E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23FCEA-C0B4-4F5B-BA35-49BA504B55AA}" type="datetimeFigureOut">
              <a:rPr lang="en-US" smtClean="0"/>
              <a:pPr/>
              <a:t>9/29/2026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6547E3-4CF2-0A42-02BD-7BF599A33B89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9E9D37-4267-36A8-2A4A-EBEB299FA400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2E8AB6-1C45-44DC-881E-4B6D7CF279A4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FF04C98-8AC5-4650-871E-30BBCC420F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63678" y="6393500"/>
            <a:ext cx="1999838" cy="32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933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28C473C-DB78-1F24-86D1-F20D8FEBBA42}"/>
              </a:ext>
            </a:extLst>
          </p:cNvPr>
          <p:cNvSpPr/>
          <p:nvPr userDrawn="1"/>
        </p:nvSpPr>
        <p:spPr>
          <a:xfrm>
            <a:off x="0" y="6257026"/>
            <a:ext cx="12191999" cy="601422"/>
          </a:xfrm>
          <a:prstGeom prst="rect">
            <a:avLst/>
          </a:prstGeom>
          <a:solidFill>
            <a:srgbClr val="001A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548045-88D2-F79A-58F5-7E01C99916EF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>
              <a:defRPr sz="4500">
                <a:solidFill>
                  <a:srgbClr val="012169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4D27E5-2385-EA8C-04AA-BA62C33CA0C8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23FCEA-C0B4-4F5B-BA35-49BA504B55AA}" type="datetimeFigureOut">
              <a:rPr lang="en-US" smtClean="0"/>
              <a:pPr/>
              <a:t>9/29/2026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E02B27-2DE6-7D89-7FA7-DA5CD0368D55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BB7C2-179C-3B70-190E-AB7E25AC8010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2E8AB6-1C45-44DC-881E-4B6D7CF279A4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14219B5-DB66-0559-CF9E-638BDAE484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63678" y="6393500"/>
            <a:ext cx="1999838" cy="32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519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B7AA1BA-F2F7-5721-466B-250D99210A96}"/>
              </a:ext>
            </a:extLst>
          </p:cNvPr>
          <p:cNvSpPr/>
          <p:nvPr userDrawn="1"/>
        </p:nvSpPr>
        <p:spPr>
          <a:xfrm>
            <a:off x="0" y="6251275"/>
            <a:ext cx="12191999" cy="601422"/>
          </a:xfrm>
          <a:prstGeom prst="rect">
            <a:avLst/>
          </a:prstGeom>
          <a:solidFill>
            <a:srgbClr val="001A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E239D1-C247-FD76-64D5-E314ECEE3F91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23FCEA-C0B4-4F5B-BA35-49BA504B55AA}" type="datetimeFigureOut">
              <a:rPr lang="en-US" smtClean="0"/>
              <a:pPr/>
              <a:t>9/29/2026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F7A62F-419D-F068-852F-A935C7AF74EA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EE439-0532-3CD2-26A4-4936BF00BBDB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2E8AB6-1C45-44DC-881E-4B6D7CF279A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9A7D43-EDA8-22F0-3C1A-52058A86F9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63678" y="6393500"/>
            <a:ext cx="1999838" cy="32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510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E7BC0E1-75A3-4116-6D9A-32F3ACCBBA1F}"/>
              </a:ext>
            </a:extLst>
          </p:cNvPr>
          <p:cNvSpPr/>
          <p:nvPr userDrawn="1"/>
        </p:nvSpPr>
        <p:spPr>
          <a:xfrm>
            <a:off x="0" y="6257026"/>
            <a:ext cx="12191999" cy="601422"/>
          </a:xfrm>
          <a:prstGeom prst="rect">
            <a:avLst/>
          </a:prstGeom>
          <a:solidFill>
            <a:srgbClr val="001A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D7BBF8-A38F-66AE-AD33-C76801E06BD7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4000" b="1">
                <a:solidFill>
                  <a:srgbClr val="012169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4173F-429D-9428-E40F-23B773B12013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 sz="2800"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 sz="2400"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 sz="2000"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 sz="2000"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47D9C4-4171-60A6-6CA1-FD480592E219}"/>
              </a:ext>
            </a:extLst>
          </p:cNvPr>
          <p:cNvSpPr>
            <a:spLocks noGrp="1"/>
          </p:cNvSpPr>
          <p:nvPr userDrawn="1"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040A3F-C4CB-FBA9-FA28-B4F463DEB481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23FCEA-C0B4-4F5B-BA35-49BA504B55AA}" type="datetimeFigureOut">
              <a:rPr lang="en-US" smtClean="0"/>
              <a:pPr/>
              <a:t>9/29/2026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B4615E-6D05-533D-3BD7-AC3798FC8BE5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32C4C-17C7-3ABF-A376-9EF8F914669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2E8AB6-1C45-44DC-881E-4B6D7CF279A4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FC53494-24F2-93D0-779F-738AF25043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63678" y="6393500"/>
            <a:ext cx="1999838" cy="32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398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8BB2D8E-39D9-6DF4-3F7A-100D27FAF470}"/>
              </a:ext>
            </a:extLst>
          </p:cNvPr>
          <p:cNvSpPr/>
          <p:nvPr userDrawn="1"/>
        </p:nvSpPr>
        <p:spPr>
          <a:xfrm>
            <a:off x="0" y="6257026"/>
            <a:ext cx="12191999" cy="601422"/>
          </a:xfrm>
          <a:prstGeom prst="rect">
            <a:avLst/>
          </a:prstGeom>
          <a:solidFill>
            <a:srgbClr val="001A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042DA5-81D7-5F3F-EBAF-5D1C98CA899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4000">
                <a:solidFill>
                  <a:srgbClr val="012169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29A715-7EF5-7E33-6BB2-E9E9D35BE0F3}"/>
              </a:ext>
            </a:extLst>
          </p:cNvPr>
          <p:cNvSpPr>
            <a:spLocks noGrp="1"/>
          </p:cNvSpPr>
          <p:nvPr userDrawn="1"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FCC1C-0EAF-8FD5-FC7D-016D2B3C1B6B}"/>
              </a:ext>
            </a:extLst>
          </p:cNvPr>
          <p:cNvSpPr>
            <a:spLocks noGrp="1"/>
          </p:cNvSpPr>
          <p:nvPr userDrawn="1"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AFF90-67B6-AA3C-6862-1E2335E7F78C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23FCEA-C0B4-4F5B-BA35-49BA504B55AA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9B1276-3E00-351B-57A0-10211F4F9505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6D774-911B-A927-C51A-6847FB76B3EB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2E8AB6-1C45-44DC-881E-4B6D7CF279A4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B7D9D16-02B2-BE84-0566-D91503C77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63678" y="6393500"/>
            <a:ext cx="1999838" cy="32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2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6A00AAF-2111-8404-8C26-1AA7A8674E20}"/>
              </a:ext>
            </a:extLst>
          </p:cNvPr>
          <p:cNvSpPr/>
          <p:nvPr userDrawn="1"/>
        </p:nvSpPr>
        <p:spPr>
          <a:xfrm>
            <a:off x="0" y="6257026"/>
            <a:ext cx="12191999" cy="601422"/>
          </a:xfrm>
          <a:prstGeom prst="rect">
            <a:avLst/>
          </a:prstGeom>
          <a:solidFill>
            <a:srgbClr val="001A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96CC6-00E3-F745-F5C3-D806E2F7ADCD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>
              <a:defRPr sz="4500">
                <a:solidFill>
                  <a:srgbClr val="012169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8A5829-27AF-8749-D1EE-8C6142212D57}"/>
              </a:ext>
            </a:extLst>
          </p:cNvPr>
          <p:cNvSpPr>
            <a:spLocks noGrp="1"/>
          </p:cNvSpPr>
          <p:nvPr userDrawn="1">
            <p:ph type="body" orient="vert" idx="1"/>
          </p:nvPr>
        </p:nvSpPr>
        <p:spPr/>
        <p:txBody>
          <a:bodyPr vert="eaVert"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C7A8B-40F4-49FE-D31D-FCE501A42BA1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23FCEA-C0B4-4F5B-BA35-49BA504B55AA}" type="datetimeFigureOut">
              <a:rPr lang="en-US" smtClean="0"/>
              <a:pPr/>
              <a:t>9/29/2026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6CD1F-777B-C570-8751-FA8064730A2D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B2BB8-3B81-3940-230D-6D140F798E1E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2E8AB6-1C45-44DC-881E-4B6D7CF279A4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8695A9F-4FB6-6729-0DD0-AC6BBE2200F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63678" y="6393500"/>
            <a:ext cx="1999838" cy="32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391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540CB22-7805-E5AE-C8F5-14735A7C2723}"/>
              </a:ext>
            </a:extLst>
          </p:cNvPr>
          <p:cNvSpPr/>
          <p:nvPr userDrawn="1"/>
        </p:nvSpPr>
        <p:spPr>
          <a:xfrm>
            <a:off x="0" y="6257026"/>
            <a:ext cx="12191999" cy="601422"/>
          </a:xfrm>
          <a:prstGeom prst="rect">
            <a:avLst/>
          </a:prstGeom>
          <a:solidFill>
            <a:srgbClr val="001A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EC5301-BA8C-8123-2B65-CB8FDBB852AC}"/>
              </a:ext>
            </a:extLst>
          </p:cNvPr>
          <p:cNvSpPr>
            <a:spLocks noGrp="1"/>
          </p:cNvSpPr>
          <p:nvPr userDrawn="1"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012169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A704F-2689-1405-EAA9-8778C3B98ABA}"/>
              </a:ext>
            </a:extLst>
          </p:cNvPr>
          <p:cNvSpPr>
            <a:spLocks noGrp="1"/>
          </p:cNvSpPr>
          <p:nvPr userDrawn="1"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0EDE2-E3CF-0A24-4FB0-392CFA24EF19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23FCEA-C0B4-4F5B-BA35-49BA504B55AA}" type="datetimeFigureOut">
              <a:rPr lang="en-US" smtClean="0"/>
              <a:pPr/>
              <a:t>9/29/2026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A25A4-10CD-5424-8572-1D71C3C05C85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8B379-425A-8260-4194-E5FE41A0C71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2E8AB6-1C45-44DC-881E-4B6D7CF279A4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9B99BB3-F0E9-75C1-07D1-A523F5E2FE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63678" y="6393500"/>
            <a:ext cx="1999838" cy="32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616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D6DF7-2BC5-A6EB-E228-72E199874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4F7EAD-4DCD-72FB-F291-98C646B74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07A2B-B3B9-BBB4-A5A1-476D56882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AC715-1898-4461-87D9-A24561B45713}" type="datetimeFigureOut">
              <a:rPr lang="en-DE" smtClean="0"/>
              <a:t>09/29/2026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8ED09-25CC-FB2A-7A30-D837B9C7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53860-E34E-3C87-30D8-A4FDBC619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DD1B3-34B4-4EA4-BC8F-D79123AC613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57210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CA0FEE-12B3-3A65-DA51-6E41FE7DD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CFD8E-4917-687B-411C-0B9E18008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7EA82-D623-3687-04E7-3D542B0B76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23FCEA-C0B4-4F5B-BA35-49BA504B55A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12696-1494-A4C9-8D0E-4694FAEDC5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AF78F-0F2C-8B34-B690-243472FC3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9348" y="6356349"/>
            <a:ext cx="12617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E8AB6-1C45-44DC-881E-4B6D7CF27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47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rgbClr val="012169"/>
          </a:solidFill>
          <a:latin typeface="Open Sans ExtraBold" panose="020B0906030804020204" pitchFamily="34" charset="0"/>
          <a:ea typeface="Open Sans ExtraBold" panose="020B0906030804020204" pitchFamily="34" charset="0"/>
          <a:cs typeface="Open Sans ExtraBold" panose="020B09060308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cs.python.org/3/faq/general.html#why-was-python-created-in-the-first-plac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urvey.stackoverflow.co/2025/technology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about/app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1578" y="2974948"/>
            <a:ext cx="10987237" cy="1349683"/>
          </a:xfrm>
        </p:spPr>
        <p:txBody>
          <a:bodyPr/>
          <a:lstStyle/>
          <a:p>
            <a:r>
              <a:rPr dirty="0"/>
              <a:t>Python for 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1579" y="4862670"/>
            <a:ext cx="10987237" cy="1258997"/>
          </a:xfrm>
        </p:spPr>
        <p:txBody>
          <a:bodyPr>
            <a:normAutofit lnSpcReduction="10000"/>
          </a:bodyPr>
          <a:lstStyle/>
          <a:p>
            <a:r>
              <a:rPr dirty="0"/>
              <a:t>Jessica A. Nash</a:t>
            </a:r>
            <a:endParaRPr lang="en-US" dirty="0"/>
          </a:p>
          <a:p>
            <a:r>
              <a:rPr lang="en-US" dirty="0"/>
              <a:t>September 30, 2026</a:t>
            </a:r>
            <a:endParaRPr dirty="0"/>
          </a:p>
          <a:p>
            <a:r>
              <a:rPr dirty="0"/>
              <a:t>Innovation Co-Lab Roots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7EE10-B5E3-D7A8-EBDE-51960D3E3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390C2-C74F-EF44-4AB9-5ACEACDFE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Python?</a:t>
            </a:r>
          </a:p>
          <a:p>
            <a:pPr lvl="1"/>
            <a:r>
              <a:rPr lang="en-US" dirty="0"/>
              <a:t>History, Popularity, &amp; Applications</a:t>
            </a:r>
          </a:p>
          <a:p>
            <a:r>
              <a:rPr lang="en-US" dirty="0"/>
              <a:t>Advantages and Disadvantages of Python</a:t>
            </a:r>
          </a:p>
          <a:p>
            <a:r>
              <a:rPr lang="en-US" dirty="0"/>
              <a:t>Jupyter Notebooks</a:t>
            </a:r>
          </a:p>
          <a:p>
            <a:r>
              <a:rPr lang="en-US" dirty="0"/>
              <a:t>Hands-On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559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Python?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216" y="1442658"/>
            <a:ext cx="7030586" cy="47390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300" b="0">
                <a:solidFill>
                  <a:srgbClr val="202B38"/>
                </a:solidFill>
                <a:latin typeface="Open Sans"/>
              </a:defRPr>
            </a:pPr>
            <a:r>
              <a:rPr dirty="0"/>
              <a:t>Python is a high-level, general-purpose programming language designed for </a:t>
            </a:r>
            <a:r>
              <a:rPr dirty="0">
                <a:solidFill>
                  <a:srgbClr val="E89923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readable code.</a:t>
            </a:r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300" b="0">
                <a:solidFill>
                  <a:srgbClr val="202B38"/>
                </a:solidFill>
                <a:latin typeface="Open Sans"/>
              </a:defRPr>
            </a:pPr>
            <a:r>
              <a:rPr lang="en-US" dirty="0"/>
              <a:t>It was c</a:t>
            </a:r>
            <a:r>
              <a:rPr dirty="0"/>
              <a:t>reated by Guido van Rossum: development began in 1989, and the first public release was in 1991.</a:t>
            </a:r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300" b="0">
                <a:solidFill>
                  <a:srgbClr val="202B38"/>
                </a:solidFill>
                <a:latin typeface="Open Sans"/>
              </a:defRPr>
            </a:pPr>
            <a:r>
              <a:rPr dirty="0"/>
              <a:t>Python is interpreted and dynamically typed. It manages memory automatically.</a:t>
            </a:r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300" b="0">
                <a:solidFill>
                  <a:srgbClr val="202B38"/>
                </a:solidFill>
                <a:latin typeface="Open Sans"/>
              </a:defRPr>
            </a:pPr>
            <a:r>
              <a:rPr dirty="0"/>
              <a:t>It is </a:t>
            </a:r>
            <a:r>
              <a:rPr dirty="0">
                <a:solidFill>
                  <a:srgbClr val="E89923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free and open source</a:t>
            </a:r>
            <a:r>
              <a:rPr dirty="0"/>
              <a:t>, and is used for everything from scientific calculations to web applications.</a:t>
            </a:r>
          </a:p>
        </p:txBody>
      </p:sp>
      <p:pic>
        <p:nvPicPr>
          <p:cNvPr id="4" name="Picture 3" descr="Python logo, reused from the original workshop deck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400" y="1705535"/>
            <a:ext cx="3838998" cy="42132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5877" y="6447065"/>
            <a:ext cx="9338022" cy="225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defRPr sz="1050" b="0">
                <a:solidFill>
                  <a:srgbClr val="586576"/>
                </a:solidFill>
                <a:latin typeface="Open Sans"/>
              </a:defRPr>
            </a:pPr>
            <a:r>
              <a:rPr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 documentation · History and general FAQ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6618"/>
            <a:ext cx="10515600" cy="1325563"/>
          </a:xfrm>
        </p:spPr>
        <p:txBody>
          <a:bodyPr/>
          <a:lstStyle/>
          <a:p>
            <a:r>
              <a:t>Python popularity</a:t>
            </a:r>
          </a:p>
        </p:txBody>
      </p:sp>
      <p:graphicFrame>
        <p:nvGraphicFramePr>
          <p:cNvPr id="3" name="Chart 2" descr="2025 Stack Overflow survey. JavaScript 66.0%, HTML/CSS 61.9%, SQL 58.6%, Python 57.9%, Bash/Shell 48.7%, TypeScript 43.6%. Multiple selections allowed."/>
          <p:cNvGraphicFramePr>
            <a:graphicFrameLocks noGrp="1"/>
          </p:cNvGraphicFramePr>
          <p:nvPr/>
        </p:nvGraphicFramePr>
        <p:xfrm>
          <a:off x="859536" y="1993392"/>
          <a:ext cx="5943600" cy="3776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86599" y="1847088"/>
            <a:ext cx="4824823" cy="405636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200" b="0">
                <a:solidFill>
                  <a:srgbClr val="202B38"/>
                </a:solidFill>
                <a:latin typeface="Open Sans"/>
              </a:defRPr>
            </a:pPr>
            <a:r>
              <a:rPr dirty="0"/>
              <a:t>In the 2025 Stack Overflow survey, 57.9% of respondents to the language question reported using Python.</a:t>
            </a:r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200" b="0">
                <a:solidFill>
                  <a:srgbClr val="202B38"/>
                </a:solidFill>
                <a:latin typeface="Open Sans"/>
              </a:defRPr>
            </a:pPr>
            <a:r>
              <a:rPr dirty="0"/>
              <a:t>Python use rose by about 7 percentage points from 2024.</a:t>
            </a:r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200" b="0">
                <a:solidFill>
                  <a:srgbClr val="202B38"/>
                </a:solidFill>
                <a:latin typeface="Open Sans"/>
              </a:defRPr>
            </a:pPr>
            <a:r>
              <a:rPr dirty="0"/>
              <a:t>Scientific computing, data science, machine learning, AI, and backend development all contribute to its broad appeal.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208" y="6472286"/>
            <a:ext cx="10424160" cy="225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defRPr sz="1050" b="0">
                <a:solidFill>
                  <a:srgbClr val="586576"/>
                </a:solidFill>
                <a:latin typeface="Open Sans"/>
              </a:defRPr>
            </a:pPr>
            <a:r>
              <a:rPr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Stack Overflow Developer Survey 2025 · All respondents · 31,771 responses · Multiple selections allowed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can you build with Python?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2502" y="1872357"/>
            <a:ext cx="6084999" cy="405636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200" b="0">
                <a:solidFill>
                  <a:srgbClr val="202B38"/>
                </a:solidFill>
                <a:latin typeface="Open Sans"/>
              </a:defRPr>
            </a:pPr>
            <a:r>
              <a:rPr dirty="0">
                <a:solidFill>
                  <a:srgbClr val="E89923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Scientific software: </a:t>
            </a:r>
            <a:r>
              <a:rPr dirty="0"/>
              <a:t>simulations, numerical models, and data analysis with NumPy and SciPy.</a:t>
            </a:r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200" b="0">
                <a:solidFill>
                  <a:srgbClr val="202B38"/>
                </a:solidFill>
                <a:latin typeface="Open Sans"/>
              </a:defRPr>
            </a:pPr>
            <a:r>
              <a:rPr dirty="0">
                <a:solidFill>
                  <a:srgbClr val="E89923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Machine learning and AI: </a:t>
            </a:r>
            <a:r>
              <a:rPr dirty="0"/>
              <a:t>predictive models, image recognition, and language-model applications with scikit-learn and </a:t>
            </a:r>
            <a:r>
              <a:rPr dirty="0" err="1"/>
              <a:t>PyTorch</a:t>
            </a:r>
            <a:r>
              <a:rPr dirty="0"/>
              <a:t>.</a:t>
            </a:r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200" b="0">
                <a:solidFill>
                  <a:srgbClr val="202B38"/>
                </a:solidFill>
                <a:latin typeface="Open Sans"/>
              </a:defRPr>
            </a:pPr>
            <a:r>
              <a:rPr dirty="0">
                <a:solidFill>
                  <a:srgbClr val="E89923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Web applications and APIs: </a:t>
            </a:r>
            <a:r>
              <a:rPr dirty="0"/>
              <a:t>websites and services built with Django, Flask, or </a:t>
            </a:r>
            <a:r>
              <a:rPr dirty="0" err="1"/>
              <a:t>FastAPI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097" y="6441009"/>
            <a:ext cx="10424160" cy="225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defRPr sz="1050" b="0">
                <a:solidFill>
                  <a:srgbClr val="586576"/>
                </a:solidFill>
                <a:latin typeface="Open Sans"/>
              </a:defRPr>
            </a:pPr>
            <a:r>
              <a:rPr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Python.org · Applications for Python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5CE304-AB9A-1A33-B34F-996185E4A7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409" y="1793634"/>
            <a:ext cx="5902486" cy="39349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the disadvantages?</a:t>
            </a:r>
          </a:p>
        </p:txBody>
      </p:sp>
      <p:pic>
        <p:nvPicPr>
          <p:cNvPr id="3" name="Picture 2" descr="Original workshop Monte Carlo benchmark: standard Python takes much longer than NumPy or compiled C++ at each workload size. Runtime in seconds versus number of step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34" y="1975104"/>
            <a:ext cx="5090907" cy="33192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7824" y="5404104"/>
            <a:ext cx="5138928" cy="5303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defRPr sz="1400" b="0">
                <a:solidFill>
                  <a:srgbClr val="586576"/>
                </a:solidFill>
                <a:latin typeface="Open Sans"/>
              </a:defRPr>
            </a:pPr>
            <a:r>
              <a:t>Monte Carlo benchmark from the C++ workshop.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  <a:defRPr sz="1400" b="0">
                <a:solidFill>
                  <a:srgbClr val="586576"/>
                </a:solidFill>
                <a:latin typeface="Open Sans"/>
              </a:defRPr>
            </a:pPr>
            <a:r>
              <a:t>Times depend on the task and implementation.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9261" y="1996422"/>
            <a:ext cx="5698953" cy="3677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200" b="0">
                <a:solidFill>
                  <a:srgbClr val="202B38"/>
                </a:solidFill>
                <a:latin typeface="Open Sans"/>
              </a:defRPr>
            </a:pPr>
            <a:r>
              <a:rPr dirty="0"/>
              <a:t>Python loops and runtime checks can make numerical code much slower than compiled</a:t>
            </a:r>
            <a:r>
              <a:rPr lang="en-US" dirty="0"/>
              <a:t> languages.</a:t>
            </a:r>
            <a:endParaRPr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200" b="0">
                <a:solidFill>
                  <a:srgbClr val="202B38"/>
                </a:solidFill>
                <a:latin typeface="Open Sans"/>
              </a:defRPr>
            </a:pPr>
            <a:r>
              <a:rPr dirty="0"/>
              <a:t>Some errors appear only when the affected code runs. </a:t>
            </a:r>
            <a:endParaRPr lang="en-US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200" b="0">
                <a:solidFill>
                  <a:srgbClr val="202B38"/>
                </a:solidFill>
                <a:latin typeface="Open Sans"/>
              </a:defRPr>
            </a:pPr>
            <a:r>
              <a:rPr dirty="0"/>
              <a:t>Package versions and dependencies need management; environments </a:t>
            </a:r>
            <a:r>
              <a:rPr lang="en-US" dirty="0"/>
              <a:t>(not covered in this workshop) </a:t>
            </a:r>
            <a:r>
              <a:rPr dirty="0"/>
              <a:t>help organize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can you make Python faster?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87552" y="1901952"/>
            <a:ext cx="4389120" cy="941832"/>
          </a:xfrm>
          <a:prstGeom prst="roundRect">
            <a:avLst/>
          </a:prstGeom>
          <a:solidFill>
            <a:srgbClr val="EDF1F6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" y="1993392"/>
            <a:ext cx="4133087" cy="40233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defRPr sz="2200" b="1">
                <a:solidFill>
                  <a:srgbClr val="012169"/>
                </a:solidFill>
                <a:latin typeface="Open Sans"/>
              </a:defRPr>
            </a:pPr>
            <a:r>
              <a:t>Your Python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2441448"/>
            <a:ext cx="4133087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202B38"/>
                </a:solidFill>
                <a:latin typeface="Open Sans"/>
              </a:defRPr>
            </a:pPr>
            <a:r>
              <a:t>Describe the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898648"/>
            <a:ext cx="45720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  <a:defRPr sz="2500" b="1">
                <a:solidFill>
                  <a:srgbClr val="2F5597"/>
                </a:solidFill>
                <a:latin typeface="Open Sans"/>
              </a:defRPr>
            </a:pPr>
            <a: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3319272"/>
            <a:ext cx="4389120" cy="941832"/>
          </a:xfrm>
          <a:prstGeom prst="roundRect">
            <a:avLst/>
          </a:prstGeom>
          <a:solidFill>
            <a:srgbClr val="EDF1F6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3410712"/>
            <a:ext cx="4133087" cy="40233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defRPr sz="2200" b="1">
                <a:solidFill>
                  <a:srgbClr val="012169"/>
                </a:solidFill>
                <a:latin typeface="Open Sans"/>
              </a:defRPr>
            </a:pPr>
            <a:r>
              <a:t>NumPy / SciPy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858768"/>
            <a:ext cx="4133087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202B38"/>
                </a:solidFill>
                <a:latin typeface="Open Sans"/>
              </a:defRPr>
            </a:pPr>
            <a:r>
              <a:t>Operate on arrays and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315968"/>
            <a:ext cx="45720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  <a:defRPr sz="2500" b="1">
                <a:solidFill>
                  <a:srgbClr val="2F5597"/>
                </a:solidFill>
                <a:latin typeface="Open Sans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4718304"/>
            <a:ext cx="4389120" cy="941832"/>
          </a:xfrm>
          <a:prstGeom prst="roundRect">
            <a:avLst/>
          </a:prstGeom>
          <a:solidFill>
            <a:srgbClr val="EDF1F6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4809744"/>
            <a:ext cx="4133087" cy="40233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defRPr sz="2100" b="1">
                <a:solidFill>
                  <a:srgbClr val="012169"/>
                </a:solidFill>
                <a:latin typeface="Open Sans"/>
              </a:defRPr>
            </a:pPr>
            <a:r>
              <a:t>Compiled numerical routines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5257800"/>
            <a:ext cx="4133087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202B38"/>
                </a:solidFill>
                <a:latin typeface="Open Sans"/>
              </a:defRPr>
            </a:pPr>
            <a:r>
              <a:t>Perform much of the computation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8088" y="1435608"/>
            <a:ext cx="5166360" cy="3297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200" b="0">
                <a:solidFill>
                  <a:srgbClr val="202B38"/>
                </a:solidFill>
                <a:latin typeface="Open Sans"/>
              </a:defRPr>
            </a:pPr>
            <a:r>
              <a:rPr dirty="0"/>
              <a:t>Python can coordinate work performed by compiled C, C++, or Fortran routines.</a:t>
            </a:r>
            <a:endParaRPr lang="en-US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200" b="0">
                <a:solidFill>
                  <a:srgbClr val="202B38"/>
                </a:solidFill>
                <a:latin typeface="Open Sans"/>
              </a:defRPr>
            </a:pPr>
            <a:endParaRPr lang="en-US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200" b="0">
                <a:solidFill>
                  <a:srgbClr val="202B38"/>
                </a:solidFill>
                <a:latin typeface="Open Sans"/>
              </a:defRPr>
            </a:pPr>
            <a:r>
              <a:rPr lang="en-US" dirty="0"/>
              <a:t>Many libraries have a Python interface (API), but use compiled languages like C++ or Fortran for calculations.</a:t>
            </a:r>
            <a:endParaRPr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F50CA9A-5FE2-3243-F97B-C43026444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538" y="4718304"/>
            <a:ext cx="3352577" cy="166856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29AF4D5-6FFB-9E94-32DE-8540A0FF6C06}"/>
              </a:ext>
            </a:extLst>
          </p:cNvPr>
          <p:cNvSpPr txBox="1"/>
          <p:nvPr/>
        </p:nvSpPr>
        <p:spPr>
          <a:xfrm>
            <a:off x="9563373" y="5161895"/>
            <a:ext cx="16410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Language breakdown for NumPy library.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SciPy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" y="1755648"/>
            <a:ext cx="10378440" cy="82529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defRPr sz="2300" b="0">
                <a:solidFill>
                  <a:srgbClr val="202B38"/>
                </a:solidFill>
                <a:latin typeface="Open Sans"/>
              </a:defRPr>
            </a:pPr>
            <a:r>
              <a:rPr dirty="0"/>
              <a:t>Scientific Python is an ecosystem of open-source libraries</a:t>
            </a:r>
            <a:r>
              <a:rPr lang="en-US" dirty="0"/>
              <a:t> that can be used for data analysis, calculations, and visualization.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886968" y="2788920"/>
            <a:ext cx="5029200" cy="1298448"/>
          </a:xfrm>
          <a:prstGeom prst="roundRect">
            <a:avLst/>
          </a:prstGeom>
          <a:solidFill>
            <a:srgbClr val="EDF1F6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4983" y="2880360"/>
            <a:ext cx="4773168" cy="40233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defRPr sz="2300" b="1">
                <a:solidFill>
                  <a:srgbClr val="012169"/>
                </a:solidFill>
                <a:latin typeface="Open Sans"/>
              </a:defRPr>
            </a:pPr>
            <a:r>
              <a:t>NumPy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3" y="3328415"/>
            <a:ext cx="4773168" cy="72237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defRPr sz="1800" b="0">
                <a:solidFill>
                  <a:srgbClr val="202B38"/>
                </a:solidFill>
                <a:latin typeface="Open Sans"/>
              </a:defRPr>
            </a:pPr>
            <a:r>
              <a:t>Arrays, vectorized calculations, and linear algebra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2788920"/>
            <a:ext cx="5029200" cy="1298448"/>
          </a:xfrm>
          <a:prstGeom prst="roundRect">
            <a:avLst/>
          </a:prstGeom>
          <a:solidFill>
            <a:srgbClr val="EDF1F6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73368" y="2880360"/>
            <a:ext cx="4773168" cy="40233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defRPr sz="2300" b="1">
                <a:solidFill>
                  <a:srgbClr val="012169"/>
                </a:solidFill>
                <a:latin typeface="Open Sans"/>
              </a:defRPr>
            </a:pPr>
            <a:r>
              <a:t>SciPy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3328415"/>
            <a:ext cx="4773168" cy="72237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defRPr sz="1800" b="0">
                <a:solidFill>
                  <a:srgbClr val="202B38"/>
                </a:solidFill>
                <a:latin typeface="Open Sans"/>
              </a:defRPr>
            </a:pPr>
            <a:r>
              <a:t>Optimization, integration, signal processing, and statistics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" y="4306824"/>
            <a:ext cx="5029200" cy="1298448"/>
          </a:xfrm>
          <a:prstGeom prst="roundRect">
            <a:avLst/>
          </a:prstGeom>
          <a:solidFill>
            <a:srgbClr val="EDF1F6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3" y="4398264"/>
            <a:ext cx="4773168" cy="40233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defRPr sz="2300" b="1">
                <a:solidFill>
                  <a:srgbClr val="012169"/>
                </a:solidFill>
                <a:latin typeface="Open Sans"/>
              </a:defRPr>
            </a:pPr>
            <a:r>
              <a:t>pandas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4846320"/>
            <a:ext cx="4773168" cy="72237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defRPr sz="1800" b="0">
                <a:solidFill>
                  <a:srgbClr val="202B38"/>
                </a:solidFill>
                <a:latin typeface="Open Sans"/>
              </a:defRPr>
            </a:pPr>
            <a:r>
              <a:t>Read files, organize tables, filter rows, and summarize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4306824"/>
            <a:ext cx="5029200" cy="1298448"/>
          </a:xfrm>
          <a:prstGeom prst="roundRect">
            <a:avLst/>
          </a:prstGeom>
          <a:solidFill>
            <a:srgbClr val="EDF1F6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4398264"/>
            <a:ext cx="4773168" cy="40233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defRPr sz="2300" b="1">
                <a:solidFill>
                  <a:srgbClr val="012169"/>
                </a:solidFill>
                <a:latin typeface="Open Sans"/>
              </a:defRPr>
            </a:pPr>
            <a:r>
              <a:t>Matplotlib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4846320"/>
            <a:ext cx="4773168" cy="72237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defRPr sz="1800" b="0">
                <a:solidFill>
                  <a:srgbClr val="202B38"/>
                </a:solidFill>
                <a:latin typeface="Open Sans"/>
              </a:defRPr>
            </a:pPr>
            <a:r>
              <a:t>Create and customize scientific plots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724144"/>
            <a:ext cx="103327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586576"/>
                </a:solidFill>
                <a:latin typeface="Open Sans"/>
              </a:defRPr>
            </a:pPr>
            <a:r>
              <a:t>Our workshop also uses Plotly for interactive plots and Jupyter for notebooks.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985A2C-558C-18B7-6F13-C684B9376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Python Libraries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DC799-1450-EA1C-788F-952BCE64B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4983480" cy="4352544"/>
          </a:xfrm>
        </p:spPr>
        <p:txBody>
          <a:bodyPr wrap="square" lIns="45720" rIns="45720"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spcAft>
                <a:spcPts val="2100"/>
              </a:spcAft>
              <a:buNone/>
              <a:defRPr sz="2500" b="1">
                <a:solidFill>
                  <a:srgbClr val="012169"/>
                </a:solidFill>
                <a:latin typeface="Open Sans"/>
              </a:defRPr>
            </a:pPr>
            <a:r>
              <a:rPr dirty="0" err="1"/>
              <a:t>Plotly</a:t>
            </a:r>
            <a:endParaRPr lang="en-US" dirty="0"/>
          </a:p>
          <a:p>
            <a:pPr marL="201168" indent="-201168">
              <a:lnSpc>
                <a:spcPct val="110000"/>
              </a:lnSpc>
              <a:spcAft>
                <a:spcPts val="1600"/>
              </a:spcAft>
              <a:defRPr sz="2300" b="0">
                <a:solidFill>
                  <a:srgbClr val="202B38"/>
                </a:solidFill>
                <a:latin typeface="Open Sans"/>
              </a:defRPr>
            </a:pPr>
            <a:r>
              <a:rPr dirty="0"/>
              <a:t>Creates interactive visualizations, including scatter plots, line plots, and more.</a:t>
            </a:r>
          </a:p>
          <a:p>
            <a:pPr marL="201168" indent="-201168">
              <a:lnSpc>
                <a:spcPct val="110000"/>
              </a:lnSpc>
              <a:spcAft>
                <a:spcPts val="1600"/>
              </a:spcAft>
              <a:defRPr sz="2300" b="0">
                <a:solidFill>
                  <a:srgbClr val="202B38"/>
                </a:solidFill>
                <a:latin typeface="Open Sans"/>
              </a:defRPr>
            </a:pPr>
            <a:r>
              <a:rPr dirty="0"/>
              <a:t>Supports zooming, panning, and hovering over points to inspect values.</a:t>
            </a:r>
          </a:p>
          <a:p>
            <a:pPr marL="201168" indent="-201168">
              <a:lnSpc>
                <a:spcPct val="110000"/>
              </a:lnSpc>
              <a:spcAft>
                <a:spcPts val="1600"/>
              </a:spcAft>
              <a:defRPr sz="2300" b="0">
                <a:solidFill>
                  <a:srgbClr val="202B38"/>
                </a:solidFill>
                <a:latin typeface="Open Sans"/>
              </a:defRPr>
            </a:pPr>
            <a:r>
              <a:rPr dirty="0" err="1"/>
              <a:t>Plotly</a:t>
            </a:r>
            <a:r>
              <a:rPr dirty="0"/>
              <a:t> Express provides a concise interface for plotting data, including pandas </a:t>
            </a:r>
            <a:r>
              <a:rPr dirty="0" err="1"/>
              <a:t>DataFrames</a:t>
            </a:r>
            <a:r>
              <a:rPr dirty="0"/>
              <a:t>.</a:t>
            </a:r>
          </a:p>
        </p:txBody>
      </p:sp>
      <p:sp>
        <p:nvSpPr>
          <p:cNvPr id="5" name="statsmodels explanation"/>
          <p:cNvSpPr txBox="1"/>
          <p:nvPr/>
        </p:nvSpPr>
        <p:spPr>
          <a:xfrm>
            <a:off x="6364224" y="1828800"/>
            <a:ext cx="4983480" cy="40196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0" indent="0">
              <a:lnSpc>
                <a:spcPct val="110000"/>
              </a:lnSpc>
              <a:spcAft>
                <a:spcPts val="2100"/>
              </a:spcAft>
              <a:defRPr sz="2500" b="1">
                <a:solidFill>
                  <a:srgbClr val="012169"/>
                </a:solidFill>
                <a:latin typeface="Open Sans"/>
              </a:defRPr>
            </a:pPr>
            <a:r>
              <a:rPr dirty="0" err="1"/>
              <a:t>statsmodels</a:t>
            </a:r>
            <a:endParaRPr dirty="0"/>
          </a:p>
          <a:p>
            <a:pPr marL="201168" indent="-201168">
              <a:lnSpc>
                <a:spcPct val="110000"/>
              </a:lnSpc>
              <a:spcAft>
                <a:spcPts val="1600"/>
              </a:spcAft>
              <a:defRPr sz="2300" b="0">
                <a:solidFill>
                  <a:srgbClr val="202B38"/>
                </a:solidFill>
                <a:latin typeface="Open Sans"/>
              </a:defRPr>
            </a:pPr>
            <a:r>
              <a:rPr sz="2100" dirty="0"/>
              <a:t>Provides tools for fitting statistical models and conducting statistical tests.</a:t>
            </a:r>
          </a:p>
          <a:p>
            <a:pPr marL="201168" indent="-201168">
              <a:lnSpc>
                <a:spcPct val="110000"/>
              </a:lnSpc>
              <a:spcAft>
                <a:spcPts val="1600"/>
              </a:spcAft>
              <a:defRPr sz="2300" b="0">
                <a:solidFill>
                  <a:srgbClr val="202B38"/>
                </a:solidFill>
                <a:latin typeface="Open Sans"/>
              </a:defRPr>
            </a:pPr>
            <a:r>
              <a:rPr sz="2100" dirty="0"/>
              <a:t>Reports model coefficients, uncertainty estimates, and measures of fit.</a:t>
            </a:r>
          </a:p>
          <a:p>
            <a:pPr marL="201168" indent="-201168">
              <a:lnSpc>
                <a:spcPct val="110000"/>
              </a:lnSpc>
              <a:spcAft>
                <a:spcPts val="1600"/>
              </a:spcAft>
              <a:defRPr sz="2300" b="0">
                <a:solidFill>
                  <a:srgbClr val="202B38"/>
                </a:solidFill>
                <a:latin typeface="Open Sans"/>
              </a:defRPr>
            </a:pPr>
            <a:r>
              <a:rPr sz="2100" dirty="0"/>
              <a:t>We’ll use it for linear regression: fitting a relationship between variables and examining the resulting model.</a:t>
            </a:r>
          </a:p>
        </p:txBody>
      </p:sp>
    </p:spTree>
    <p:extLst>
      <p:ext uri="{BB962C8B-B14F-4D97-AF65-F5344CB8AC3E}">
        <p14:creationId xmlns:p14="http://schemas.microsoft.com/office/powerpoint/2010/main" val="4154450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Jupyter notebook?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9620" y="1618093"/>
            <a:ext cx="5308971" cy="428893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900"/>
              </a:spcAft>
              <a:defRPr sz="2200" b="0">
                <a:solidFill>
                  <a:srgbClr val="202B38"/>
                </a:solidFill>
                <a:latin typeface="Open Sans"/>
              </a:defRPr>
            </a:pPr>
            <a:r>
              <a:rPr lang="en-US" sz="2000" dirty="0"/>
              <a:t>In this workshop, we will write code into a Jupyter notebook.</a:t>
            </a:r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200" b="0">
                <a:solidFill>
                  <a:srgbClr val="202B38"/>
                </a:solidFill>
                <a:latin typeface="Open Sans"/>
              </a:defRPr>
            </a:pPr>
            <a:r>
              <a:rPr sz="2000" dirty="0"/>
              <a:t>A </a:t>
            </a:r>
            <a:r>
              <a:rPr lang="en-US" sz="2000" dirty="0"/>
              <a:t>Jupyter </a:t>
            </a:r>
            <a:r>
              <a:rPr sz="2000" dirty="0"/>
              <a:t>notebook is an interactive document that combines code, explanatory text, equations, and results.</a:t>
            </a:r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200" b="0">
                <a:solidFill>
                  <a:srgbClr val="202B38"/>
                </a:solidFill>
                <a:latin typeface="Open Sans"/>
              </a:defRPr>
            </a:pPr>
            <a:r>
              <a:rPr sz="2000" dirty="0"/>
              <a:t>Code is organized into cells that you can run and edit individually. Markdown cells describe the question and method.</a:t>
            </a:r>
            <a:endParaRPr lang="en-US" sz="200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200" b="0">
                <a:solidFill>
                  <a:srgbClr val="202B38"/>
                </a:solidFill>
                <a:latin typeface="Open Sans"/>
              </a:defRPr>
            </a:pPr>
            <a:endParaRPr sz="2000" dirty="0"/>
          </a:p>
          <a:p>
            <a:pPr algn="l">
              <a:lnSpc>
                <a:spcPct val="112000"/>
              </a:lnSpc>
              <a:spcAft>
                <a:spcPts val="900"/>
              </a:spcAft>
              <a:defRPr sz="2200" b="0">
                <a:solidFill>
                  <a:srgbClr val="202B38"/>
                </a:solidFill>
                <a:latin typeface="Open Sans"/>
              </a:defRPr>
            </a:pPr>
            <a:r>
              <a:rPr sz="2000" dirty="0"/>
              <a:t>Select a code cell and press Shift+Enter to run it.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26B9C8-5CA1-1C5D-2EF2-8D6DD2186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26" y="1478813"/>
            <a:ext cx="6033440" cy="45407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4A2A8D-DB85-808A-15E6-642B6A052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76AD5C-EC83-CA4E-9222-B07EC1862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96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0DB090-AD2B-5F09-47A6-A92DBE1C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Environment: Duke Container Manager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59D68F-EFEA-FAF0-F033-4F5051125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dirty="0">
              <a:solidFill>
                <a:srgbClr val="E89923"/>
              </a:solidFill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  <a:p>
            <a:pPr marL="0" indent="0" algn="ctr">
              <a:buNone/>
            </a:pPr>
            <a:endParaRPr lang="en-US" sz="4400" dirty="0">
              <a:solidFill>
                <a:srgbClr val="E89923"/>
              </a:solidFill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  <a:p>
            <a:pPr marL="0" indent="0" algn="ctr">
              <a:buNone/>
            </a:pPr>
            <a:r>
              <a:rPr lang="en-US" sz="4400" dirty="0">
                <a:solidFill>
                  <a:srgbClr val="E89923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cmgr.oit.duke.edu/containers</a:t>
            </a:r>
          </a:p>
        </p:txBody>
      </p:sp>
    </p:spTree>
    <p:extLst>
      <p:ext uri="{BB962C8B-B14F-4D97-AF65-F5344CB8AC3E}">
        <p14:creationId xmlns:p14="http://schemas.microsoft.com/office/powerpoint/2010/main" val="4081545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Making your work easy to follow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199" y="1499616"/>
            <a:ext cx="10419215" cy="410048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200" b="0">
                <a:solidFill>
                  <a:srgbClr val="202B38"/>
                </a:solidFill>
                <a:latin typeface="Open Sans"/>
              </a:defRPr>
            </a:pPr>
            <a:r>
              <a:rPr sz="2400" dirty="0"/>
              <a:t>Explain the question and method in Markdown before presenting the calculation.</a:t>
            </a:r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200" b="0">
                <a:solidFill>
                  <a:srgbClr val="202B38"/>
                </a:solidFill>
                <a:latin typeface="Open Sans"/>
              </a:defRPr>
            </a:pPr>
            <a:r>
              <a:rPr sz="2400" dirty="0"/>
              <a:t>Use meaningful variable names, record units, and label the axes on your plots.</a:t>
            </a:r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200" b="0">
                <a:solidFill>
                  <a:srgbClr val="202B38"/>
                </a:solidFill>
                <a:latin typeface="Open Sans"/>
              </a:defRPr>
            </a:pPr>
            <a:r>
              <a:rPr sz="2400" dirty="0"/>
              <a:t>Inspect the data and intermediate results instead of assuming that code which runs is correct.</a:t>
            </a:r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2200" b="0">
                <a:solidFill>
                  <a:srgbClr val="202B38"/>
                </a:solidFill>
                <a:latin typeface="Open Sans"/>
              </a:defRPr>
            </a:pPr>
            <a:r>
              <a:rPr sz="2400" dirty="0"/>
              <a:t>Before sharing a notebook, restart the kernel and run all cells from the top. Keep the data and environment information needed to repeat the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25EA46D57E5C408905BF1A8EB70A6F" ma:contentTypeVersion="2" ma:contentTypeDescription="Create a new document." ma:contentTypeScope="" ma:versionID="f92358e824178776e0b57490c57f1b59">
  <xsd:schema xmlns:xsd="http://www.w3.org/2001/XMLSchema" xmlns:xs="http://www.w3.org/2001/XMLSchema" xmlns:p="http://schemas.microsoft.com/office/2006/metadata/properties" xmlns:ns3="4662864e-4b4b-42f9-9e5d-d3db1108610a" targetNamespace="http://schemas.microsoft.com/office/2006/metadata/properties" ma:root="true" ma:fieldsID="61da21a4ca889725573de8ef20925a7e" ns3:_="">
    <xsd:import namespace="4662864e-4b4b-42f9-9e5d-d3db1108610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62864e-4b4b-42f9-9e5d-d3db1108610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662864e-4b4b-42f9-9e5d-d3db1108610a" xsi:nil="true"/>
  </documentManagement>
</p:properties>
</file>

<file path=customXml/itemProps1.xml><?xml version="1.0" encoding="utf-8"?>
<ds:datastoreItem xmlns:ds="http://schemas.openxmlformats.org/officeDocument/2006/customXml" ds:itemID="{300A481F-EDE6-48A2-A20B-7F46E60A293B}">
  <ds:schemaRefs>
    <ds:schemaRef ds:uri="4662864e-4b4b-42f9-9e5d-d3db110861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FB3BAF6-B65A-4F8E-82A4-A9F0BABE609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9EF5B5-D56E-47FB-852A-400575E57182}">
  <ds:schemaRefs>
    <ds:schemaRef ds:uri="4662864e-4b4b-42f9-9e5d-d3db1108610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4365</TotalTime>
  <Words>920</Words>
  <Application>Microsoft Office PowerPoint</Application>
  <PresentationFormat>Widescreen</PresentationFormat>
  <Paragraphs>100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Open Sans</vt:lpstr>
      <vt:lpstr>Open Sans ExtraBold</vt:lpstr>
      <vt:lpstr>Open Sans SemiBold</vt:lpstr>
      <vt:lpstr>1_Office Theme</vt:lpstr>
      <vt:lpstr>Python for STEM</vt:lpstr>
      <vt:lpstr>Outline</vt:lpstr>
      <vt:lpstr>What is Python?</vt:lpstr>
      <vt:lpstr>Python popularity</vt:lpstr>
      <vt:lpstr>What can you build with Python?</vt:lpstr>
      <vt:lpstr>What are the disadvantages?</vt:lpstr>
      <vt:lpstr>How can you make Python faster?</vt:lpstr>
      <vt:lpstr>The SciPy stack</vt:lpstr>
      <vt:lpstr>Other Python Libraries</vt:lpstr>
      <vt:lpstr>What is a Jupyter notebook?</vt:lpstr>
      <vt:lpstr>Hands-On</vt:lpstr>
      <vt:lpstr>Environment: Duke Container Manager</vt:lpstr>
      <vt:lpstr>Making your work easy to follow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STEM — Introduction</dc:title>
  <dc:subject>Innovation Co-Lab Roots workshop</dc:subject>
  <dc:creator>Jessica A. Nash</dc:creator>
  <cp:lastModifiedBy>Jessica Nash, Ph.D.</cp:lastModifiedBy>
  <cp:revision>221</cp:revision>
  <dcterms:created xsi:type="dcterms:W3CDTF">2025-11-05T15:06:03Z</dcterms:created>
  <dcterms:modified xsi:type="dcterms:W3CDTF">2026-09-29T23:36:01Z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0x010100E125EA46D57E5C408905BF1A8EB70A6F</vt:lpwstr>
  </property>
</Properties>
</file>